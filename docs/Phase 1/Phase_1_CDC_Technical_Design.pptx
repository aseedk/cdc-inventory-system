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88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926080" cy="2926080"/>
          </a:xfrm>
          <a:prstGeom prst="ellipse">
            <a:avLst/>
          </a:prstGeom>
          <a:solidFill>
            <a:srgbClr val="00BFA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FA5"/>
                </a:solidFill>
              </a:rPr>
              <a:t>PROJECT 7  ·  PHASE 1 TECHNICAL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E-Commerce Inventory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Live Sync (CDC)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FA5"/>
                </a:solidFill>
              </a:rPr>
              <a:t>Real-time Change Data Capture Pipeline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5029200" cy="27432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3273552"/>
            <a:ext cx="32918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2735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Lakehouse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621024"/>
            <a:ext cx="3291840" cy="2560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6210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Redpanda / Kafka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968496"/>
            <a:ext cx="32918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9684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 Microservices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3273552"/>
            <a:ext cx="3291840" cy="2560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69080" y="32735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+ Iceberg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3621024"/>
            <a:ext cx="32918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69080" y="36210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Grafana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Phase 1 of 4  ·  Delivery: May 1,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Purpose of Project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FFF3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54864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Business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Customers are purchasing out-of-stock items because the e-commerce website inventory is not updated in real time. The warehouse database and the website are not synchronised, causing lost sales and customer frustration.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697480" cy="3291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Sync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084832"/>
            <a:ext cx="255117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Capture every database change (INSERT, UPDATE, DELETE) within milliseconds and propagate it to the serving layer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Target end-to-end latency under 500ms.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719072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719072"/>
            <a:ext cx="2697480" cy="32918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17190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Schema Resilience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084832"/>
            <a:ext cx="255117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Pipeline must not crash when source database fields change. 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Schema Registry enforces backward compatibility and routes breaking changes to a dead-letter topic.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1719072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71616" y="1719072"/>
            <a:ext cx="2697480" cy="329184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71616" y="17190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Observable &amp; Automated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2084832"/>
            <a:ext cx="255117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All microservices expose health probes. Orchestrator auto-restarts failed pods.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Grafana dashboard shows sync latency, throughput, and inventory KPIs live.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E8F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</a:rPr>
              <a:t>Dataset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16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Olist Brazilian E-Commerce (Kaggle) - 100,000+ orders across 9 relational CSV tables covering products, sellers, customers, payments, and reviews. Timestamps enable realistic CDC event simulation. Instacart (3M orders) used optionally for stress testing.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Development Phases &amp; Timeline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205740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2057400" cy="65836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0976" y="603504"/>
            <a:ext cx="548640" cy="548640"/>
          </a:xfrm>
          <a:prstGeom prst="ellipse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603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" y="76809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Requirements &amp; Technical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2000" y="1481328"/>
            <a:ext cx="952500" cy="22860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2000" y="1481328"/>
            <a:ext cx="95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</a:rPr>
              <a:t>May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" y="182880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Architecture decisions &amp; rationale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Q1–Q6 design answers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PowerPoint technical breakdown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Table schema + STTM spreadsheet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14016" y="749808"/>
            <a:ext cx="205740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14016" y="749808"/>
            <a:ext cx="2057400" cy="65836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63824" y="603504"/>
            <a:ext cx="548640" cy="548640"/>
          </a:xfrm>
          <a:prstGeom prst="ellipse">
            <a:avLst/>
          </a:prstGeom>
          <a:solidFill>
            <a:srgbClr val="00897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63824" y="603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14016" y="76809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 &amp; CDC 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71800" y="1481328"/>
            <a:ext cx="952500" cy="228600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71800" y="1481328"/>
            <a:ext cx="95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</a:rPr>
              <a:t>May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05456" y="182880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PostgreSQL + Redpanda + MinIO local setup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Docker-based deployment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Go CDC Reader microservice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WAL reading + schema evolution handling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749808"/>
            <a:ext cx="205740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26864" y="749808"/>
            <a:ext cx="2057400" cy="65836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76672" y="603504"/>
            <a:ext cx="548640" cy="548640"/>
          </a:xfrm>
          <a:prstGeom prst="ellipse">
            <a:avLst/>
          </a:prstGeom>
          <a:solidFill>
            <a:srgbClr val="E6510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76672" y="603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26864" y="76809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Kafka Integration &amp; Grafana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81600" y="1481328"/>
            <a:ext cx="952500" cy="228600"/>
          </a:xfrm>
          <a:prstGeom prst="rect">
            <a:avLst/>
          </a:prstGeom>
          <a:solidFill>
            <a:srgbClr val="E651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81600" y="1481328"/>
            <a:ext cx="95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</a:rPr>
              <a:t>May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18304" y="182880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Inventory Sync Go microservice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Redpanda topic integration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Real-time Grafana dashboard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Sync latency + inventory KPI panels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39712" y="749808"/>
            <a:ext cx="205740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39712" y="749808"/>
            <a:ext cx="2057400" cy="65836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89520" y="603504"/>
            <a:ext cx="548640" cy="548640"/>
          </a:xfrm>
          <a:prstGeom prst="ellipse">
            <a:avLst/>
          </a:prstGeom>
          <a:solidFill>
            <a:srgbClr val="6A1B9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89520" y="603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9712" y="76809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Documentation &amp; Final Presentation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4100" y="1481328"/>
            <a:ext cx="952500" cy="228600"/>
          </a:xfrm>
          <a:prstGeom prst="rect">
            <a:avLst/>
          </a:prstGeom>
          <a:solidFill>
            <a:srgbClr val="6A1B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04100" y="1481328"/>
            <a:ext cx="95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1B9A"/>
                </a:solidFill>
              </a:rPr>
              <a:t>May 11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31152" y="182880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Full Word documentation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Architecture diagrams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Final PowerPoint presentation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STTM + table schemas complete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" y="4736592"/>
            <a:ext cx="8741664" cy="256032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01168" y="4736592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11 Days  ·  Iterative delivery with stakeholder review at each phase gate  ·  Next phase kicks off upon sign-off of the prior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0844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System Design — Data Lakehouse Architecture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Selected: Data Lakehouse — Local Deployment (Docker + Kubernetes) with Helm charts for cloud portability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32004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25296"/>
            <a:ext cx="3200400" cy="31089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252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Lakehouse?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29809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ACID commits — crash does not corrupt data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Built-in schema evolution via Apache Iceberg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Time-travel queries for historical inventory audit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Streaming + SQL analytics in one architecture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S3-compatible MinIO — zero code change for cloud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1225296"/>
            <a:ext cx="5138928" cy="384048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12252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12252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PostgreSQL + WAL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9344"/>
            <a:ext cx="0" cy="73152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03320" y="1682496"/>
            <a:ext cx="5138928" cy="384048"/>
          </a:xfrm>
          <a:prstGeom prst="rect">
            <a:avLst/>
          </a:prstGeom>
          <a:solidFill>
            <a:srgbClr val="E6510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1682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16824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Redpanda + Schema Registry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2066544"/>
            <a:ext cx="0" cy="73152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03320" y="2139696"/>
            <a:ext cx="5138928" cy="384048"/>
          </a:xfrm>
          <a:prstGeom prst="rect">
            <a:avLst/>
          </a:prstGeom>
          <a:solidFill>
            <a:srgbClr val="6A1B9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94760" y="21396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Lakehouse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139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Iceberg + MinIO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2523744"/>
            <a:ext cx="0" cy="73152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03320" y="2596896"/>
            <a:ext cx="5138928" cy="384048"/>
          </a:xfrm>
          <a:prstGeom prst="rect">
            <a:avLst/>
          </a:prstGeom>
          <a:solidFill>
            <a:srgbClr val="00897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94760" y="25968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5968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PostgreSQL target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2980944"/>
            <a:ext cx="0" cy="73152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03320" y="3054096"/>
            <a:ext cx="5138928" cy="384048"/>
          </a:xfrm>
          <a:prstGeom prst="rect">
            <a:avLst/>
          </a:prstGeom>
          <a:solidFill>
            <a:srgbClr val="546E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94760" y="3054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0540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Go Orchestrator + K8s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3438144"/>
            <a:ext cx="0" cy="73152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03320" y="3511296"/>
            <a:ext cx="5138928" cy="384048"/>
          </a:xfrm>
          <a:prstGeom prst="rect">
            <a:avLst/>
          </a:prstGeom>
          <a:solidFill>
            <a:srgbClr val="2E7D3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94760" y="35112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35112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Grafana + Prometheus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059936"/>
            <a:ext cx="8595360" cy="27432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05993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not alternatives?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Data Warehouse: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00200" y="44074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Batch ETL only — hours not milliseconds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73552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Data Lake: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62272" y="44074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No ACID guarantees — partial writes on crash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35624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Data Mart: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24344" y="44074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Destination layer only — cannot ingest CDC events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System Design — Microservices &amp; Infrastructure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346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83464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CDC Reader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813816"/>
            <a:ext cx="457200" cy="256032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32888" y="813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207008"/>
            <a:ext cx="26517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Connects to PostgreSQL replication slot via pglogrepl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Decodes WAL events → Avro serialization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Registers schema with Redpanda Schema Registry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Routes breaking changes to dead-letter topic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Exposes interfaces /</a:t>
            </a:r>
            <a:r>
              <a:rPr lang="en-US" sz="900" dirty="0" err="1">
                <a:solidFill>
                  <a:srgbClr val="546E7A"/>
                </a:solidFill>
              </a:rPr>
              <a:t>healthz</a:t>
            </a:r>
            <a:r>
              <a:rPr lang="en-US" sz="900" dirty="0">
                <a:solidFill>
                  <a:srgbClr val="546E7A"/>
                </a:solidFill>
              </a:rPr>
              <a:t>  /</a:t>
            </a:r>
            <a:r>
              <a:rPr lang="en-US" sz="900" dirty="0" err="1">
                <a:solidFill>
                  <a:srgbClr val="546E7A"/>
                </a:solidFill>
              </a:rPr>
              <a:t>readyz</a:t>
            </a:r>
            <a:r>
              <a:rPr lang="en-US" sz="900" dirty="0">
                <a:solidFill>
                  <a:srgbClr val="546E7A"/>
                </a:solidFill>
              </a:rPr>
              <a:t>  /metrics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8346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34640" cy="38404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749808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Inventory Sync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04688" y="813816"/>
            <a:ext cx="457200" cy="256032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04688" y="813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207008"/>
            <a:ext cx="26517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Consumes Avro events from Redpanda topics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Validates schema, deduplicates, handles nulls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Upserts to PostgreSQL target (idempotent)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Writes Parquet to MinIO via Iceberg writer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Exposes interfaces /</a:t>
            </a:r>
            <a:r>
              <a:rPr lang="en-US" sz="900" dirty="0" err="1">
                <a:solidFill>
                  <a:srgbClr val="546E7A"/>
                </a:solidFill>
              </a:rPr>
              <a:t>healthz</a:t>
            </a:r>
            <a:r>
              <a:rPr lang="en-US" sz="900" dirty="0">
                <a:solidFill>
                  <a:srgbClr val="546E7A"/>
                </a:solidFill>
              </a:rPr>
              <a:t>  /</a:t>
            </a:r>
            <a:r>
              <a:rPr lang="en-US" sz="900" dirty="0" err="1">
                <a:solidFill>
                  <a:srgbClr val="546E7A"/>
                </a:solidFill>
              </a:rPr>
              <a:t>readyz</a:t>
            </a:r>
            <a:r>
              <a:rPr lang="en-US" sz="900" dirty="0">
                <a:solidFill>
                  <a:srgbClr val="546E7A"/>
                </a:solidFill>
              </a:rPr>
              <a:t>  /metrics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749808"/>
            <a:ext cx="28346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749808"/>
            <a:ext cx="2834640" cy="38404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749808"/>
            <a:ext cx="23774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76488" y="813816"/>
            <a:ext cx="457200" cy="256032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76488" y="813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207008"/>
            <a:ext cx="26517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Polls /healthz on all microservices every 10s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Calls Kubernetes API to restart failing pods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Monitors dead-letter topic depth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Triggers alerts on consumer lag &gt; 2 seconds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Exposes interfaces /healthz  /readyz  /metrics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114800"/>
            <a:ext cx="8686800" cy="27432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4114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53128"/>
            <a:ext cx="1664208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44805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</a:rPr>
              <a:t>Docker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Container runtime for all services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65960" y="4453128"/>
            <a:ext cx="1664208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65960" y="44805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</a:rPr>
              <a:t>Kubernetes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65960" y="46634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Local orchestration via kind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03320" y="4453128"/>
            <a:ext cx="1664208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03320" y="44805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</a:rPr>
              <a:t>Helm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03320" y="46634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Single-command deploy; cloud-portable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4453128"/>
            <a:ext cx="1664208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0680" y="44805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</a:rPr>
              <a:t>Prometheus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40680" y="46634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Scrapes /metrics from all services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78040" y="4453128"/>
            <a:ext cx="1664208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78040" y="44805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044"/>
                </a:solidFill>
              </a:rPr>
              <a:t>Grafana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78040" y="46634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Dashboard on port 3000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Integration &amp; Automation Strategy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0116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01168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594360"/>
            <a:ext cx="512064" cy="51206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594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768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21992" y="1143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316736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Full snapshot on first run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Switch to WAL streaming (CDC)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Avro serialization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Schema Registry registration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749808"/>
            <a:ext cx="20116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3160" y="749808"/>
            <a:ext cx="201168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594360"/>
            <a:ext cx="512064" cy="512064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594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768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16552" y="1143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897B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1316736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Schema version validation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Null imputation &amp; dedup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Outlier flagging (IQR)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Inventory qty derivation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749808"/>
            <a:ext cx="20116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749808"/>
            <a:ext cx="2011680" cy="5029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49240" y="594360"/>
            <a:ext cx="512064" cy="512064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594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768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114300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316736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PostgreSQL upsert (idempotent)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Parquet write to MinIO/Iceberg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Dead-letter routing on failure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Latency metric recorded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749808"/>
            <a:ext cx="20116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12280" y="749808"/>
            <a:ext cx="2011680" cy="5029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43800" y="594360"/>
            <a:ext cx="512064" cy="51206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594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768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1316736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Orchestrator polls /healthz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K8s </a:t>
            </a:r>
            <a:r>
              <a:rPr lang="en-US" sz="900" dirty="0" err="1">
                <a:solidFill>
                  <a:srgbClr val="546E7A"/>
                </a:solidFill>
              </a:rPr>
              <a:t>CronJob</a:t>
            </a:r>
            <a:r>
              <a:rPr lang="en-US" sz="900" dirty="0">
                <a:solidFill>
                  <a:srgbClr val="546E7A"/>
                </a:solidFill>
              </a:rPr>
              <a:t> - schema drift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Prometheus lag alerting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Bash scripts - env setup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675888"/>
            <a:ext cx="8686800" cy="256032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36758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Risks &amp; Mitigations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602620"/>
              </p:ext>
            </p:extLst>
          </p:nvPr>
        </p:nvGraphicFramePr>
        <p:xfrm>
          <a:off x="228600" y="3968496"/>
          <a:ext cx="8686800" cy="9601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Breaking schema change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Schema Registry + dead-letter topic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CDC Reader crash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Replication slot holds WAL position; resumes from last LSN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Duplicate events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ON CONFLICT DO UPDATE - idempotent upsert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Consumer lag spike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Prometheus alert &gt; 2s lag; Orchestrator restarts pod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Dashboard Strategy — Grafana + Prometheus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Grafana reads from PostgreSQL target (real-time) and Prometheus /metrics (infrastructure). Sub-second panel refresh.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2029968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1887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 Health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184708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Sync latency P50 / P95 / P99 (ms)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CDC event throughput (events/sec)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Dead-letter queue depth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Consumer lag per Redpanda topic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1188720"/>
            <a:ext cx="2029968" cy="34747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11887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591056"/>
            <a:ext cx="184708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Stock movement by product category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Top sellers by revenue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Low stock alert panel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Units sold over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2029968" cy="3474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1887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591056"/>
            <a:ext cx="184708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Order status funnel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Order fulfilment rate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Revenue by customer state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Late vs on-time deliveries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188720"/>
            <a:ext cx="202996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2029968" cy="347472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11887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Satisfaction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1591056"/>
            <a:ext cx="184708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Avg review score by category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Late delivery rate by seller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Review score distribution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Fulfilment score trend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041648"/>
            <a:ext cx="8686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4041648"/>
            <a:ext cx="45720" cy="8686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059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</a:rPr>
              <a:t>Data Flow to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31596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PostgreSQL target → Grafana (real-time inventory + order panels, sub-second refresh)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Prometheus scrapes /metrics on CDC Reader + Inventory Sync + Orchestrator → Grafana (infrastructure panels)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Apache Iceberg / MinIO → DuckDB or Trino → Grafana (historical trend panels, no impact on live pipeline)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EDA Summary — Olist Dataset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206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DQ Flag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order_reviews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~3% null review scores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Median fill per product 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897B"/>
                          </a:solidFill>
                        </a:rPr>
                        <a:t>IMPUTED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0.7% null delivery timestamps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Avg shipping duration per seller state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897B"/>
                          </a:solidFill>
                        </a:rPr>
                        <a:t>IMPUTED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order_items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Price outliers up to 6,735 BRL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IQR capping; outlier flag preserved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FLAGGED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order_items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Duplicate rows on composite key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Dedup on (order_id, product_id, seller_id)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DUPLICATE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products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Category names in Portuguese only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Joined with translation table → English 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46E7A"/>
                          </a:solidFill>
                        </a:rPr>
                        <a:t>CLEAN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order_items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No dedicated inventory quantity field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Derived: aggregate units sold per product + seller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46E7A"/>
                          </a:solidFill>
                        </a:rPr>
                        <a:t>DERIVED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order_payments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Multiple rows per order (split payments)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SUM payment_value per order_id in fact_orders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46E7A"/>
                          </a:solidFill>
                        </a:rPr>
                        <a:t>CLEAN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Go Implementation Approach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160520" cy="3200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CDC Reader — pglogrepl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Connect to PostgreSQL replication slot on startup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Full snapshot → switch to streaming mode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Decode WAL bytes using pglogrepl library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Register Avro schema with Schema Registry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Publish events to per-table Redpanda topics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Retry with exponential backoff on publish failure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4160520" cy="3200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7498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Inventory Sync — Consumer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115568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Subscribe to cdc.* Redpanda topics as consumer group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Validate Avro schema version on each event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Apply DQ: null fill, dedup, outlier flag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Upsert to PostgreSQL using ON CONFLICT DO UPDATE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Write Parquet to MinIO via Iceberg writer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Commit offset only after both writes succeed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160520" cy="32004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28803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 — Health &amp; Recovery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24612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Poll /healthz on CDC Reader + Inventory Sync every 10s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Call Kubernetes API to restart pods on 3 consecutive failures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Monitor DLQ topic depth via Redpanda admin API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Trigger Prometheus alert on lag &gt; 2s or error rate &gt; 0.1%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160520" cy="32004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8803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Shared Patterns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All services expose /healthz  /readyz  /metrics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Structured JSON logging (zerolog)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Config via environment variables + K8s ConfigMap/Secret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</a:rPr>
              <a:t>Dockerfile: multi-stage </a:t>
            </a:r>
            <a:r>
              <a:rPr lang="en-US" sz="900">
                <a:solidFill>
                  <a:srgbClr val="546E7A"/>
                </a:solidFill>
              </a:rPr>
              <a:t>build - </a:t>
            </a:r>
            <a:r>
              <a:rPr lang="en-US" sz="900" dirty="0">
                <a:solidFill>
                  <a:srgbClr val="546E7A"/>
                </a:solidFill>
              </a:rPr>
              <a:t>minimal Alpine image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1 Complete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FA5"/>
                </a:solidFill>
              </a:rPr>
              <a:t>Requirements &amp; Technical 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938528"/>
            <a:ext cx="4572000" cy="27432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Q1–Q6 design questions answered in full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Architecture decision — Data Lakehouse rationale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6-layer system design with microservice breakdown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4-stage ETL pipeline with risks and mitigations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Technology stack selection and rationale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Table schema spreadsheet (4 zones, 21 tables)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STTM mapping (31 source-to-target column mappings)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Grafana dashboard strategy (12 reports, 4 dashboards)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Phase 2 begins upon confirmation — Infrastructure &amp; CDC Service  ·  Delivery: May 6,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F1F52C-3542-428E-8284-2B157E08EC5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2facb55-13bf-4627-a7a1-4f83fef9c3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1293</Words>
  <Application>Microsoft Office PowerPoint</Application>
  <PresentationFormat>On-screen Show (16:9)</PresentationFormat>
  <Paragraphs>256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Inventory Live Sync – Phase 1</dc:title>
  <dc:subject>PptxGenJS Presentation</dc:subject>
  <dc:creator>PptxGenJS</dc:creator>
  <cp:lastModifiedBy>Aseed Khokhar</cp:lastModifiedBy>
  <cp:revision>2</cp:revision>
  <dcterms:created xsi:type="dcterms:W3CDTF">2026-05-01T05:37:13Z</dcterms:created>
  <dcterms:modified xsi:type="dcterms:W3CDTF">2026-05-01T10:19:30Z</dcterms:modified>
</cp:coreProperties>
</file>